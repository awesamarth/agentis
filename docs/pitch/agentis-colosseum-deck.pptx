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notesMasterIdLst>
    <p:notesMasterId r:id="rId1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notesMaster" Target="notesMasters/notesMaster1.xml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Agentis is complete financial infrastructure for AI agents on Solana: wallets, payments, policy enforcement, privacy, and yield.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shift is not just chatbots. Agents are moving toward commerce: paying for data, paid APIs, compute, services, swaps, and protocol actions.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primitives exist in the ecosystem, but they are separate. A builder has to integrate and operate each one before their agent can spend safely.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This is the actual pain. The problem is not that one primitive is missing. The problem is fragmentation, risk, and time lost before a team can ship a useful spending agent.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Agentis creates hosted or local wallets for agents and wraps them with payments, policies, privacy, and yield. Builders can use the dashboard, CLI, SDK, or MCP.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Agentis is not one feature. It is the financial operating layer around the agent wallet: x402 and MPP payments, spending controls, Umbra privacy, and Jupiter Earn.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Agentis already supports hosted agents, local wallets, x402 and MPP paid fetch, policy checks, Umbra flows, Jupiter Earn, and MCP tools. The demo is not just mock UI.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The wedge is Solana agent builders and paid API providers. The long-term platform is the financial layer that lets autonomous apps hold, spend, protect, and manage money.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image" Target="../media/image-5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Users/awesamarth/Desktop/code/agentis/apps/next-app/public/agentis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903720" y="1325880"/>
            <a:ext cx="2057400" cy="20574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13232" y="1143000"/>
            <a:ext cx="53035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54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Agentis</a:t>
            </a:r>
            <a:endParaRPr lang="en-US" sz="5400" dirty="0"/>
          </a:p>
        </p:txBody>
      </p:sp>
      <p:sp>
        <p:nvSpPr>
          <p:cNvPr id="4" name="Text 1"/>
          <p:cNvSpPr/>
          <p:nvPr/>
        </p:nvSpPr>
        <p:spPr>
          <a:xfrm>
            <a:off x="749808" y="2999232"/>
            <a:ext cx="4892040" cy="10789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23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Complete financial infrastructure for AI agents on Solana.</a:t>
            </a:r>
            <a:endParaRPr lang="en-US" sz="2300" dirty="0"/>
          </a:p>
        </p:txBody>
      </p:sp>
      <p:sp>
        <p:nvSpPr>
          <p:cNvPr id="5" name="Shape 2"/>
          <p:cNvSpPr/>
          <p:nvPr/>
        </p:nvSpPr>
        <p:spPr>
          <a:xfrm>
            <a:off x="749808" y="4407408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17130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841248" y="450799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wallets</a:t>
            </a:r>
            <a:endParaRPr lang="en-US" sz="800" dirty="0"/>
          </a:p>
        </p:txBody>
      </p:sp>
      <p:sp>
        <p:nvSpPr>
          <p:cNvPr id="7" name="Shape 4"/>
          <p:cNvSpPr/>
          <p:nvPr/>
        </p:nvSpPr>
        <p:spPr>
          <a:xfrm>
            <a:off x="1719072" y="4407408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17130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810512" y="450799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payments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2688336" y="4407408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17130F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2779776" y="450799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policies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3657600" y="4407408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17130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749040" y="450799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4626864" y="4407408"/>
            <a:ext cx="841248" cy="347472"/>
          </a:xfrm>
          <a:prstGeom prst="roundRect">
            <a:avLst>
              <a:gd name="adj" fmla="val 21053"/>
            </a:avLst>
          </a:prstGeom>
          <a:solidFill>
            <a:srgbClr val="F3FFE5"/>
          </a:solidFill>
          <a:ln w="12700">
            <a:solidFill>
              <a:srgbClr val="17130F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4718304" y="4507992"/>
            <a:ext cx="658368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502920" y="64465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Agentis</a:t>
            </a:r>
            <a:endParaRPr lang="en-US" sz="800" dirty="0"/>
          </a:p>
        </p:txBody>
      </p:sp>
      <p:sp>
        <p:nvSpPr>
          <p:cNvPr id="16" name="Text 13"/>
          <p:cNvSpPr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1/8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ARE BECOMING SPENDERS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621792" y="502920"/>
            <a:ext cx="5532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Crypto agents are starting to pay for real work.</a:t>
            </a:r>
            <a:endParaRPr lang="en-US" sz="3100" dirty="0"/>
          </a:p>
        </p:txBody>
      </p:sp>
      <p:pic>
        <p:nvPicPr>
          <p:cNvPr id="4" name="Image 0" descr="/Users/awesamarth/Desktop/code/agentis/apps/next-app/public/agentis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00800" y="2743200"/>
            <a:ext cx="822960" cy="82296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7223760" y="3154680"/>
            <a:ext cx="1188720" cy="-1664208"/>
          </a:xfrm>
          <a:prstGeom prst="line">
            <a:avLst/>
          </a:prstGeom>
          <a:noFill/>
          <a:ln w="25400">
            <a:solidFill>
              <a:srgbClr val="2F7B46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8412480" y="132588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2F7B46"/>
            </a:solidFill>
            <a:prstDash val="solid"/>
          </a:ln>
        </p:spPr>
      </p:sp>
      <p:sp>
        <p:nvSpPr>
          <p:cNvPr id="7" name="Text 4"/>
          <p:cNvSpPr/>
          <p:nvPr/>
        </p:nvSpPr>
        <p:spPr>
          <a:xfrm>
            <a:off x="8503920" y="1426464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2F7B4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APIs</a:t>
            </a:r>
            <a:endParaRPr lang="en-US" sz="800" dirty="0"/>
          </a:p>
        </p:txBody>
      </p:sp>
      <p:sp>
        <p:nvSpPr>
          <p:cNvPr id="8" name="Shape 5"/>
          <p:cNvSpPr/>
          <p:nvPr/>
        </p:nvSpPr>
        <p:spPr>
          <a:xfrm>
            <a:off x="7223760" y="3154680"/>
            <a:ext cx="2194560" cy="-658368"/>
          </a:xfrm>
          <a:prstGeom prst="line">
            <a:avLst/>
          </a:prstGeom>
          <a:noFill/>
          <a:ln w="25400">
            <a:solidFill>
              <a:srgbClr val="315A8A"/>
            </a:solidFill>
            <a:prstDash val="solid"/>
            <a:headEnd type="none"/>
            <a:tailEnd type="none"/>
          </a:ln>
        </p:spPr>
      </p:sp>
      <p:sp>
        <p:nvSpPr>
          <p:cNvPr id="9" name="Shape 6"/>
          <p:cNvSpPr/>
          <p:nvPr/>
        </p:nvSpPr>
        <p:spPr>
          <a:xfrm>
            <a:off x="9418320" y="233172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315A8A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9509760" y="2432304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315A8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data</a:t>
            </a:r>
            <a:endParaRPr lang="en-US" sz="800" dirty="0"/>
          </a:p>
        </p:txBody>
      </p:sp>
      <p:sp>
        <p:nvSpPr>
          <p:cNvPr id="11" name="Shape 8"/>
          <p:cNvSpPr/>
          <p:nvPr/>
        </p:nvSpPr>
        <p:spPr>
          <a:xfrm>
            <a:off x="7223760" y="3154680"/>
            <a:ext cx="1737360" cy="530352"/>
          </a:xfrm>
          <a:prstGeom prst="line">
            <a:avLst/>
          </a:prstGeom>
          <a:noFill/>
          <a:ln w="25400">
            <a:solidFill>
              <a:srgbClr val="6D4AFF"/>
            </a:solidFill>
            <a:prstDash val="solid"/>
            <a:headEnd type="none"/>
            <a:tailEnd type="none"/>
          </a:ln>
        </p:spPr>
      </p:sp>
      <p:sp>
        <p:nvSpPr>
          <p:cNvPr id="12" name="Shape 9"/>
          <p:cNvSpPr/>
          <p:nvPr/>
        </p:nvSpPr>
        <p:spPr>
          <a:xfrm>
            <a:off x="8961120" y="352044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13" name="Text 10"/>
          <p:cNvSpPr/>
          <p:nvPr/>
        </p:nvSpPr>
        <p:spPr>
          <a:xfrm>
            <a:off x="9052560" y="3621024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6D4A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compute</a:t>
            </a:r>
            <a:endParaRPr lang="en-US" sz="800" dirty="0"/>
          </a:p>
        </p:txBody>
      </p:sp>
      <p:sp>
        <p:nvSpPr>
          <p:cNvPr id="14" name="Shape 11"/>
          <p:cNvSpPr/>
          <p:nvPr/>
        </p:nvSpPr>
        <p:spPr>
          <a:xfrm>
            <a:off x="7223760" y="3154680"/>
            <a:ext cx="457200" cy="1353312"/>
          </a:xfrm>
          <a:prstGeom prst="line">
            <a:avLst/>
          </a:prstGeom>
          <a:noFill/>
          <a:ln w="25400">
            <a:solidFill>
              <a:srgbClr val="17130F"/>
            </a:solidFill>
            <a:prstDash val="solid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7680960" y="4343400"/>
            <a:ext cx="114300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17130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7772400" y="4443984"/>
            <a:ext cx="96012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protocols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080760" y="3703320"/>
            <a:ext cx="1417320" cy="347472"/>
          </a:xfrm>
          <a:prstGeom prst="roundRect">
            <a:avLst>
              <a:gd name="adj" fmla="val 21053"/>
            </a:avLst>
          </a:prstGeom>
          <a:solidFill>
            <a:srgbClr val="F5F0E8"/>
          </a:solidFill>
          <a:ln w="12700">
            <a:solidFill>
              <a:srgbClr val="17130F"/>
            </a:solidFill>
            <a:prstDash val="solid"/>
          </a:ln>
        </p:spPr>
      </p:sp>
      <p:sp>
        <p:nvSpPr>
          <p:cNvPr id="18" name="Text 15"/>
          <p:cNvSpPr/>
          <p:nvPr/>
        </p:nvSpPr>
        <p:spPr>
          <a:xfrm>
            <a:off x="6172200" y="3803904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 wallet</a:t>
            </a:r>
            <a:endParaRPr lang="en-US" sz="800" dirty="0"/>
          </a:p>
        </p:txBody>
      </p:sp>
      <p:sp>
        <p:nvSpPr>
          <p:cNvPr id="19" name="Text 16"/>
          <p:cNvSpPr/>
          <p:nvPr/>
        </p:nvSpPr>
        <p:spPr>
          <a:xfrm>
            <a:off x="502920" y="64465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Agentis</a:t>
            </a:r>
            <a:endParaRPr lang="en-US" sz="800" dirty="0"/>
          </a:p>
        </p:txBody>
      </p:sp>
      <p:sp>
        <p:nvSpPr>
          <p:cNvPr id="20" name="Text 17"/>
          <p:cNvSpPr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2/8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STACK IS SCATTERED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621792" y="502920"/>
            <a:ext cx="5532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Every serious agent needs five financial primitives.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355080" y="11430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D0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519672" y="1389888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 custody</a:t>
            </a:r>
            <a:endParaRPr lang="en-US" sz="900" dirty="0"/>
          </a:p>
        </p:txBody>
      </p:sp>
      <p:sp>
        <p:nvSpPr>
          <p:cNvPr id="6" name="Shape 4"/>
          <p:cNvSpPr/>
          <p:nvPr/>
        </p:nvSpPr>
        <p:spPr>
          <a:xfrm>
            <a:off x="8595360" y="1143000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D0B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759952" y="1389888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APIs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6355080" y="2167128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D0BE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6519672" y="2414016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limits</a:t>
            </a:r>
            <a:endParaRPr lang="en-US" sz="900" dirty="0"/>
          </a:p>
        </p:txBody>
      </p:sp>
      <p:sp>
        <p:nvSpPr>
          <p:cNvPr id="10" name="Shape 8"/>
          <p:cNvSpPr/>
          <p:nvPr/>
        </p:nvSpPr>
        <p:spPr>
          <a:xfrm>
            <a:off x="8595360" y="2167128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FFFFF"/>
          </a:solidFill>
          <a:ln w="12700">
            <a:solidFill>
              <a:srgbClr val="D9D0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8759952" y="2414016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flows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6355080" y="3191256"/>
            <a:ext cx="1828800" cy="640080"/>
          </a:xfrm>
          <a:prstGeom prst="roundRect">
            <a:avLst>
              <a:gd name="adj" fmla="val 11429"/>
            </a:avLst>
          </a:prstGeom>
          <a:solidFill>
            <a:srgbClr val="F3FFE5"/>
          </a:solidFill>
          <a:ln w="12700">
            <a:solidFill>
              <a:srgbClr val="D9D0B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519672" y="3438144"/>
            <a:ext cx="15087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idle yield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6355080" y="4434840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 separate jobs before the agent can safely spend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02920" y="64465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Agentis</a:t>
            </a:r>
            <a:endParaRPr lang="en-US" sz="800" dirty="0"/>
          </a:p>
        </p:txBody>
      </p:sp>
      <p:sp>
        <p:nvSpPr>
          <p:cNvPr id="16" name="Text 14"/>
          <p:cNvSpPr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3/8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BUILDERS DO THE PLUMBING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621792" y="502920"/>
            <a:ext cx="5532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Today, Solana agent teams stitch the money stack by hand.</a:t>
            </a:r>
            <a:endParaRPr lang="en-US" sz="3100" dirty="0"/>
          </a:p>
        </p:txBody>
      </p:sp>
      <p:pic>
        <p:nvPicPr>
          <p:cNvPr id="4" name="Image 0" descr="/Users/awesamarth/Desktop/code/agentis/apps/next-app/public/agentis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126480" y="2697480"/>
            <a:ext cx="685800" cy="6858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720840" y="3063240"/>
            <a:ext cx="2057400" cy="-1984248"/>
          </a:xfrm>
          <a:prstGeom prst="line">
            <a:avLst/>
          </a:prstGeom>
          <a:noFill/>
          <a:ln w="22860">
            <a:solidFill>
              <a:srgbClr val="2F7B46"/>
            </a:solidFill>
            <a:prstDash val="solid"/>
            <a:headEnd type="none"/>
            <a:tailEnd type="none"/>
          </a:ln>
        </p:spPr>
      </p:sp>
      <p:sp>
        <p:nvSpPr>
          <p:cNvPr id="6" name="Shape 3"/>
          <p:cNvSpPr/>
          <p:nvPr/>
        </p:nvSpPr>
        <p:spPr>
          <a:xfrm>
            <a:off x="6720840" y="3063240"/>
            <a:ext cx="1645920" cy="-1691640"/>
          </a:xfrm>
          <a:prstGeom prst="line">
            <a:avLst/>
          </a:prstGeom>
          <a:noFill/>
          <a:ln w="15240">
            <a:solidFill>
              <a:srgbClr val="D9D0BE"/>
            </a:solidFill>
            <a:prstDash val="solid"/>
            <a:headEnd type="none"/>
            <a:tailEnd type="none"/>
          </a:ln>
        </p:spPr>
      </p:sp>
      <p:sp>
        <p:nvSpPr>
          <p:cNvPr id="7" name="Shape 4"/>
          <p:cNvSpPr/>
          <p:nvPr/>
        </p:nvSpPr>
        <p:spPr>
          <a:xfrm>
            <a:off x="8778240" y="914400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17130F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8869680" y="1014984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wallet</a:t>
            </a:r>
            <a:endParaRPr lang="en-US" sz="800" dirty="0"/>
          </a:p>
        </p:txBody>
      </p:sp>
      <p:sp>
        <p:nvSpPr>
          <p:cNvPr id="9" name="Shape 6"/>
          <p:cNvSpPr/>
          <p:nvPr/>
        </p:nvSpPr>
        <p:spPr>
          <a:xfrm>
            <a:off x="6720840" y="3063240"/>
            <a:ext cx="2788920" cy="-886968"/>
          </a:xfrm>
          <a:prstGeom prst="line">
            <a:avLst/>
          </a:prstGeom>
          <a:noFill/>
          <a:ln w="22860">
            <a:solidFill>
              <a:srgbClr val="315A8A"/>
            </a:solidFill>
            <a:prstDash val="solid"/>
            <a:headEnd type="none"/>
            <a:tailEnd type="none"/>
          </a:ln>
        </p:spPr>
      </p:sp>
      <p:sp>
        <p:nvSpPr>
          <p:cNvPr id="10" name="Shape 7"/>
          <p:cNvSpPr/>
          <p:nvPr/>
        </p:nvSpPr>
        <p:spPr>
          <a:xfrm>
            <a:off x="6720840" y="3063240"/>
            <a:ext cx="2377440" cy="-594360"/>
          </a:xfrm>
          <a:prstGeom prst="line">
            <a:avLst/>
          </a:prstGeom>
          <a:noFill/>
          <a:ln w="15240">
            <a:solidFill>
              <a:srgbClr val="B8D8C0"/>
            </a:solidFill>
            <a:prstDash val="solid"/>
            <a:headEnd type="none"/>
            <a:tailEnd type="none"/>
          </a:ln>
        </p:spPr>
      </p:sp>
      <p:sp>
        <p:nvSpPr>
          <p:cNvPr id="11" name="Shape 8"/>
          <p:cNvSpPr/>
          <p:nvPr/>
        </p:nvSpPr>
        <p:spPr>
          <a:xfrm>
            <a:off x="9509760" y="2011680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17130F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9601200" y="2112264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payment</a:t>
            </a:r>
            <a:endParaRPr lang="en-US" sz="800" dirty="0"/>
          </a:p>
        </p:txBody>
      </p:sp>
      <p:sp>
        <p:nvSpPr>
          <p:cNvPr id="13" name="Shape 10"/>
          <p:cNvSpPr/>
          <p:nvPr/>
        </p:nvSpPr>
        <p:spPr>
          <a:xfrm>
            <a:off x="6720840" y="3063240"/>
            <a:ext cx="2286000" cy="256032"/>
          </a:xfrm>
          <a:prstGeom prst="line">
            <a:avLst/>
          </a:prstGeom>
          <a:noFill/>
          <a:ln w="22860">
            <a:solidFill>
              <a:srgbClr val="6D4AFF"/>
            </a:solidFill>
            <a:prstDash val="solid"/>
            <a:headEnd type="none"/>
            <a:tailEnd type="none"/>
          </a:ln>
        </p:spPr>
      </p:sp>
      <p:sp>
        <p:nvSpPr>
          <p:cNvPr id="14" name="Shape 11"/>
          <p:cNvSpPr/>
          <p:nvPr/>
        </p:nvSpPr>
        <p:spPr>
          <a:xfrm>
            <a:off x="6720840" y="3063240"/>
            <a:ext cx="1874520" cy="548640"/>
          </a:xfrm>
          <a:prstGeom prst="line">
            <a:avLst/>
          </a:prstGeom>
          <a:noFill/>
          <a:ln w="15240">
            <a:solidFill>
              <a:srgbClr val="D9D0BE"/>
            </a:solidFill>
            <a:prstDash val="solid"/>
            <a:headEnd type="none"/>
            <a:tailEnd type="none"/>
          </a:ln>
        </p:spPr>
      </p:sp>
      <p:sp>
        <p:nvSpPr>
          <p:cNvPr id="15" name="Shape 12"/>
          <p:cNvSpPr/>
          <p:nvPr/>
        </p:nvSpPr>
        <p:spPr>
          <a:xfrm>
            <a:off x="9006840" y="3154680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17130F"/>
            </a:solidFill>
            <a:prstDash val="solid"/>
          </a:ln>
        </p:spPr>
      </p:sp>
      <p:sp>
        <p:nvSpPr>
          <p:cNvPr id="16" name="Text 13"/>
          <p:cNvSpPr/>
          <p:nvPr/>
        </p:nvSpPr>
        <p:spPr>
          <a:xfrm>
            <a:off x="9098280" y="3255264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</a:t>
            </a:r>
            <a:endParaRPr lang="en-US" sz="800" dirty="0"/>
          </a:p>
        </p:txBody>
      </p:sp>
      <p:sp>
        <p:nvSpPr>
          <p:cNvPr id="17" name="Shape 14"/>
          <p:cNvSpPr/>
          <p:nvPr/>
        </p:nvSpPr>
        <p:spPr>
          <a:xfrm>
            <a:off x="6720840" y="3063240"/>
            <a:ext cx="2834640" cy="1353312"/>
          </a:xfrm>
          <a:prstGeom prst="line">
            <a:avLst/>
          </a:prstGeom>
          <a:noFill/>
          <a:ln w="22860">
            <a:solidFill>
              <a:srgbClr val="D4FF56"/>
            </a:solidFill>
            <a:prstDash val="solid"/>
            <a:headEnd type="none"/>
            <a:tailEnd type="none"/>
          </a:ln>
        </p:spPr>
      </p:sp>
      <p:sp>
        <p:nvSpPr>
          <p:cNvPr id="18" name="Shape 15"/>
          <p:cNvSpPr/>
          <p:nvPr/>
        </p:nvSpPr>
        <p:spPr>
          <a:xfrm>
            <a:off x="6720840" y="3063240"/>
            <a:ext cx="2423160" cy="1645920"/>
          </a:xfrm>
          <a:prstGeom prst="line">
            <a:avLst/>
          </a:prstGeom>
          <a:noFill/>
          <a:ln w="15240">
            <a:solidFill>
              <a:srgbClr val="B8D8C0"/>
            </a:solidFill>
            <a:prstDash val="solid"/>
            <a:headEnd type="none"/>
            <a:tailEnd type="none"/>
          </a:ln>
        </p:spPr>
      </p:sp>
      <p:sp>
        <p:nvSpPr>
          <p:cNvPr id="19" name="Shape 16"/>
          <p:cNvSpPr/>
          <p:nvPr/>
        </p:nvSpPr>
        <p:spPr>
          <a:xfrm>
            <a:off x="9555480" y="4251960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17130F"/>
            </a:solidFill>
            <a:prstDash val="solid"/>
          </a:ln>
        </p:spPr>
      </p:sp>
      <p:sp>
        <p:nvSpPr>
          <p:cNvPr id="20" name="Text 17"/>
          <p:cNvSpPr/>
          <p:nvPr/>
        </p:nvSpPr>
        <p:spPr>
          <a:xfrm>
            <a:off x="9646920" y="4352544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privacy</a:t>
            </a:r>
            <a:endParaRPr lang="en-US" sz="800" dirty="0"/>
          </a:p>
        </p:txBody>
      </p:sp>
      <p:sp>
        <p:nvSpPr>
          <p:cNvPr id="21" name="Shape 18"/>
          <p:cNvSpPr/>
          <p:nvPr/>
        </p:nvSpPr>
        <p:spPr>
          <a:xfrm>
            <a:off x="6720840" y="3063240"/>
            <a:ext cx="1463040" cy="1993392"/>
          </a:xfrm>
          <a:prstGeom prst="line">
            <a:avLst/>
          </a:prstGeom>
          <a:noFill/>
          <a:ln w="22860">
            <a:solidFill>
              <a:srgbClr val="17130F"/>
            </a:solidFill>
            <a:prstDash val="solid"/>
            <a:headEnd type="none"/>
            <a:tailEnd type="none"/>
          </a:ln>
        </p:spPr>
      </p:sp>
      <p:sp>
        <p:nvSpPr>
          <p:cNvPr id="22" name="Shape 19"/>
          <p:cNvSpPr/>
          <p:nvPr/>
        </p:nvSpPr>
        <p:spPr>
          <a:xfrm>
            <a:off x="6720840" y="3063240"/>
            <a:ext cx="1051560" cy="2286000"/>
          </a:xfrm>
          <a:prstGeom prst="line">
            <a:avLst/>
          </a:prstGeom>
          <a:noFill/>
          <a:ln w="15240">
            <a:solidFill>
              <a:srgbClr val="D9D0BE"/>
            </a:solidFill>
            <a:prstDash val="solid"/>
            <a:headEnd type="none"/>
            <a:tailEnd type="none"/>
          </a:ln>
        </p:spPr>
      </p:sp>
      <p:sp>
        <p:nvSpPr>
          <p:cNvPr id="23" name="Shape 20"/>
          <p:cNvSpPr/>
          <p:nvPr/>
        </p:nvSpPr>
        <p:spPr>
          <a:xfrm>
            <a:off x="8183880" y="4892040"/>
            <a:ext cx="1051560" cy="347472"/>
          </a:xfrm>
          <a:prstGeom prst="roundRect">
            <a:avLst>
              <a:gd name="adj" fmla="val 21053"/>
            </a:avLst>
          </a:prstGeom>
          <a:solidFill>
            <a:srgbClr val="FFFFFF"/>
          </a:solidFill>
          <a:ln w="12700">
            <a:solidFill>
              <a:srgbClr val="17130F"/>
            </a:solidFill>
            <a:prstDash val="solid"/>
          </a:ln>
        </p:spPr>
      </p:sp>
      <p:sp>
        <p:nvSpPr>
          <p:cNvPr id="24" name="Text 21"/>
          <p:cNvSpPr/>
          <p:nvPr/>
        </p:nvSpPr>
        <p:spPr>
          <a:xfrm>
            <a:off x="8275320" y="4992624"/>
            <a:ext cx="8686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yield</a:t>
            </a:r>
            <a:endParaRPr lang="en-US" sz="800" dirty="0"/>
          </a:p>
        </p:txBody>
      </p:sp>
      <p:sp>
        <p:nvSpPr>
          <p:cNvPr id="25" name="Text 22"/>
          <p:cNvSpPr/>
          <p:nvPr/>
        </p:nvSpPr>
        <p:spPr>
          <a:xfrm>
            <a:off x="502920" y="64465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Agentis</a:t>
            </a:r>
            <a:endParaRPr lang="en-US" sz="800" dirty="0"/>
          </a:p>
        </p:txBody>
      </p:sp>
      <p:sp>
        <p:nvSpPr>
          <p:cNvPr id="26" name="Text 23"/>
          <p:cNvSpPr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4/8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ONE CONTROL PLANE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621792" y="502920"/>
            <a:ext cx="5532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Agentis gives every agent a wallet and financial control plane.</a:t>
            </a:r>
            <a:endParaRPr lang="en-US" sz="3100" dirty="0"/>
          </a:p>
        </p:txBody>
      </p:sp>
      <p:pic>
        <p:nvPicPr>
          <p:cNvPr id="4" name="Image 0" descr="/Users/awesamarth/Desktop/code/agentis/apps/next-app/public/agentis-mark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452360" y="2514600"/>
            <a:ext cx="914400" cy="914400"/>
          </a:xfrm>
          <a:prstGeom prst="rect">
            <a:avLst/>
          </a:prstGeom>
        </p:spPr>
      </p:pic>
      <p:sp>
        <p:nvSpPr>
          <p:cNvPr id="5" name="Shape 2"/>
          <p:cNvSpPr/>
          <p:nvPr/>
        </p:nvSpPr>
        <p:spPr>
          <a:xfrm>
            <a:off x="6537960" y="3520440"/>
            <a:ext cx="2743200" cy="502920"/>
          </a:xfrm>
          <a:prstGeom prst="roundRect">
            <a:avLst>
              <a:gd name="adj" fmla="val 14545"/>
            </a:avLst>
          </a:prstGeom>
          <a:solidFill>
            <a:srgbClr val="F5F0E8"/>
          </a:solidFill>
          <a:ln w="12700">
            <a:solidFill>
              <a:srgbClr val="17130F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675120" y="3712464"/>
            <a:ext cx="24688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Agentis control plane</a:t>
            </a:r>
            <a:endParaRPr lang="en-US" sz="1000" dirty="0"/>
          </a:p>
        </p:txBody>
      </p:sp>
      <p:sp>
        <p:nvSpPr>
          <p:cNvPr id="7" name="Shape 4"/>
          <p:cNvSpPr/>
          <p:nvPr/>
        </p:nvSpPr>
        <p:spPr>
          <a:xfrm>
            <a:off x="7909560" y="3108960"/>
            <a:ext cx="-1280160" cy="-1554480"/>
          </a:xfrm>
          <a:prstGeom prst="line">
            <a:avLst/>
          </a:prstGeom>
          <a:noFill/>
          <a:ln w="17780">
            <a:solidFill>
              <a:srgbClr val="D9D0BE"/>
            </a:solidFill>
            <a:prstDash val="solid"/>
            <a:headEnd type="none"/>
            <a:tailEnd type="none"/>
          </a:ln>
        </p:spPr>
      </p:sp>
      <p:sp>
        <p:nvSpPr>
          <p:cNvPr id="8" name="Shape 5"/>
          <p:cNvSpPr/>
          <p:nvPr/>
        </p:nvSpPr>
        <p:spPr>
          <a:xfrm>
            <a:off x="6126480" y="123444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0BE"/>
            </a:solidFill>
            <a:prstDash val="solid"/>
          </a:ln>
        </p:spPr>
      </p:sp>
      <p:pic>
        <p:nvPicPr>
          <p:cNvPr id="9" name="Image 1" descr="/Users/awesamarth/Desktop/code/agentis/apps/next-app/public/solana-logo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72784" y="1380744"/>
            <a:ext cx="347472" cy="347472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6702552" y="150876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Solana</a:t>
            </a:r>
            <a:endParaRPr lang="en-US" sz="820" dirty="0"/>
          </a:p>
        </p:txBody>
      </p:sp>
      <p:sp>
        <p:nvSpPr>
          <p:cNvPr id="11" name="Shape 7"/>
          <p:cNvSpPr/>
          <p:nvPr/>
        </p:nvSpPr>
        <p:spPr>
          <a:xfrm>
            <a:off x="7909560" y="3108960"/>
            <a:ext cx="1645920" cy="-1554480"/>
          </a:xfrm>
          <a:prstGeom prst="line">
            <a:avLst/>
          </a:prstGeom>
          <a:noFill/>
          <a:ln w="17780">
            <a:solidFill>
              <a:srgbClr val="D9D0BE"/>
            </a:solidFill>
            <a:prstDash val="solid"/>
            <a:headEnd type="none"/>
            <a:tailEnd type="none"/>
          </a:ln>
        </p:spPr>
      </p:sp>
      <p:sp>
        <p:nvSpPr>
          <p:cNvPr id="12" name="Shape 8"/>
          <p:cNvSpPr/>
          <p:nvPr/>
        </p:nvSpPr>
        <p:spPr>
          <a:xfrm>
            <a:off x="9052560" y="123444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0BE"/>
            </a:solidFill>
            <a:prstDash val="solid"/>
          </a:ln>
        </p:spPr>
      </p:sp>
      <p:sp>
        <p:nvSpPr>
          <p:cNvPr id="13" name="Text 9"/>
          <p:cNvSpPr/>
          <p:nvPr/>
        </p:nvSpPr>
        <p:spPr>
          <a:xfrm>
            <a:off x="9180576" y="1508760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/ MPP</a:t>
            </a:r>
            <a:endParaRPr lang="en-US" sz="820" dirty="0"/>
          </a:p>
        </p:txBody>
      </p:sp>
      <p:sp>
        <p:nvSpPr>
          <p:cNvPr id="14" name="Shape 10"/>
          <p:cNvSpPr/>
          <p:nvPr/>
        </p:nvSpPr>
        <p:spPr>
          <a:xfrm>
            <a:off x="7909560" y="3108960"/>
            <a:ext cx="-1508760" cy="1920240"/>
          </a:xfrm>
          <a:prstGeom prst="line">
            <a:avLst/>
          </a:prstGeom>
          <a:noFill/>
          <a:ln w="17780">
            <a:solidFill>
              <a:srgbClr val="D9D0BE"/>
            </a:solidFill>
            <a:prstDash val="solid"/>
            <a:headEnd type="none"/>
            <a:tailEnd type="none"/>
          </a:ln>
        </p:spPr>
      </p:sp>
      <p:sp>
        <p:nvSpPr>
          <p:cNvPr id="15" name="Shape 11"/>
          <p:cNvSpPr/>
          <p:nvPr/>
        </p:nvSpPr>
        <p:spPr>
          <a:xfrm>
            <a:off x="5897880" y="470916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0BE"/>
            </a:solidFill>
            <a:prstDash val="solid"/>
          </a:ln>
        </p:spPr>
      </p:sp>
      <p:sp>
        <p:nvSpPr>
          <p:cNvPr id="16" name="Text 12"/>
          <p:cNvSpPr/>
          <p:nvPr/>
        </p:nvSpPr>
        <p:spPr>
          <a:xfrm>
            <a:off x="6025896" y="4983480"/>
            <a:ext cx="123444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82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Umbra</a:t>
            </a:r>
            <a:endParaRPr lang="en-US" sz="820" dirty="0"/>
          </a:p>
        </p:txBody>
      </p:sp>
      <p:sp>
        <p:nvSpPr>
          <p:cNvPr id="17" name="Shape 13"/>
          <p:cNvSpPr/>
          <p:nvPr/>
        </p:nvSpPr>
        <p:spPr>
          <a:xfrm>
            <a:off x="7909560" y="3108960"/>
            <a:ext cx="1691640" cy="1828800"/>
          </a:xfrm>
          <a:prstGeom prst="line">
            <a:avLst/>
          </a:prstGeom>
          <a:noFill/>
          <a:ln w="17780">
            <a:solidFill>
              <a:srgbClr val="D9D0BE"/>
            </a:solidFill>
            <a:prstDash val="solid"/>
            <a:headEnd type="none"/>
            <a:tailEnd type="none"/>
          </a:ln>
        </p:spPr>
      </p:sp>
      <p:sp>
        <p:nvSpPr>
          <p:cNvPr id="18" name="Shape 14"/>
          <p:cNvSpPr/>
          <p:nvPr/>
        </p:nvSpPr>
        <p:spPr>
          <a:xfrm>
            <a:off x="9098280" y="4617720"/>
            <a:ext cx="1508760" cy="658368"/>
          </a:xfrm>
          <a:prstGeom prst="roundRect">
            <a:avLst>
              <a:gd name="adj" fmla="val 11111"/>
            </a:avLst>
          </a:prstGeom>
          <a:solidFill>
            <a:srgbClr val="FFFFFF"/>
          </a:solidFill>
          <a:ln w="12700">
            <a:solidFill>
              <a:srgbClr val="D9D0BE"/>
            </a:solidFill>
            <a:prstDash val="solid"/>
          </a:ln>
        </p:spPr>
      </p:sp>
      <p:pic>
        <p:nvPicPr>
          <p:cNvPr id="19" name="Image 2" descr="/Users/awesamarth/Desktop/code/agentis/apps/next-app/public/jupiter-logo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44584" y="4764024"/>
            <a:ext cx="347472" cy="347472"/>
          </a:xfrm>
          <a:prstGeom prst="rect">
            <a:avLst/>
          </a:prstGeom>
        </p:spPr>
      </p:pic>
      <p:sp>
        <p:nvSpPr>
          <p:cNvPr id="20" name="Text 15"/>
          <p:cNvSpPr/>
          <p:nvPr/>
        </p:nvSpPr>
        <p:spPr>
          <a:xfrm>
            <a:off x="9674352" y="4892040"/>
            <a:ext cx="82296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l" indent="0" marL="0">
              <a:buNone/>
            </a:pPr>
            <a:r>
              <a:rPr lang="en-US" sz="82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Jupiter</a:t>
            </a:r>
            <a:endParaRPr lang="en-US" sz="820" dirty="0"/>
          </a:p>
        </p:txBody>
      </p:sp>
      <p:sp>
        <p:nvSpPr>
          <p:cNvPr id="21" name="Text 16"/>
          <p:cNvSpPr/>
          <p:nvPr/>
        </p:nvSpPr>
        <p:spPr>
          <a:xfrm>
            <a:off x="502920" y="64465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Agentis</a:t>
            </a:r>
            <a:endParaRPr lang="en-US" sz="800" dirty="0"/>
          </a:p>
        </p:txBody>
      </p:sp>
      <p:sp>
        <p:nvSpPr>
          <p:cNvPr id="22" name="Text 17"/>
          <p:cNvSpPr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5/8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SPEND WITHOUT LOSING CONTROL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621792" y="502920"/>
            <a:ext cx="5532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Agents can pay APIs, obey budgets, move privately, and earn on idle funds.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172200" y="13258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2F7B46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6336792" y="1527048"/>
            <a:ext cx="182880" cy="182880"/>
          </a:xfrm>
          <a:prstGeom prst="ellipse">
            <a:avLst/>
          </a:prstGeom>
          <a:solidFill>
            <a:srgbClr val="2F7B46"/>
          </a:solidFill>
          <a:ln w="12700">
            <a:solidFill>
              <a:srgbClr val="2F7B4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6629400" y="158191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pay APIs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6629400" y="185623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x402 / MPP</a:t>
            </a:r>
            <a:endParaRPr lang="en-US" sz="720" dirty="0"/>
          </a:p>
        </p:txBody>
      </p:sp>
      <p:sp>
        <p:nvSpPr>
          <p:cNvPr id="8" name="Shape 6"/>
          <p:cNvSpPr/>
          <p:nvPr/>
        </p:nvSpPr>
        <p:spPr>
          <a:xfrm>
            <a:off x="8503920" y="132588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6D4AFF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8668512" y="1527048"/>
            <a:ext cx="182880" cy="182880"/>
          </a:xfrm>
          <a:prstGeom prst="ellipse">
            <a:avLst/>
          </a:prstGeom>
          <a:solidFill>
            <a:srgbClr val="6D4AFF"/>
          </a:solidFill>
          <a:ln w="12700">
            <a:solidFill>
              <a:srgbClr val="6D4AFF">
                <a:alpha val="0"/>
              </a:srgbClr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8961120" y="158191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obey budgets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8961120" y="185623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policy engine</a:t>
            </a:r>
            <a:endParaRPr lang="en-US" sz="720" dirty="0"/>
          </a:p>
        </p:txBody>
      </p:sp>
      <p:sp>
        <p:nvSpPr>
          <p:cNvPr id="12" name="Shape 10"/>
          <p:cNvSpPr/>
          <p:nvPr/>
        </p:nvSpPr>
        <p:spPr>
          <a:xfrm>
            <a:off x="6172200" y="297180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315A8A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336792" y="3172968"/>
            <a:ext cx="182880" cy="182880"/>
          </a:xfrm>
          <a:prstGeom prst="ellipse">
            <a:avLst/>
          </a:prstGeom>
          <a:solidFill>
            <a:srgbClr val="315A8A"/>
          </a:solidFill>
          <a:ln w="12700">
            <a:solidFill>
              <a:srgbClr val="315A8A">
                <a:alpha val="0"/>
              </a:srgbClr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629400" y="322783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move privately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6629400" y="350215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Umbra</a:t>
            </a:r>
            <a:endParaRPr lang="en-US" sz="720" dirty="0"/>
          </a:p>
        </p:txBody>
      </p:sp>
      <p:sp>
        <p:nvSpPr>
          <p:cNvPr id="16" name="Shape 14"/>
          <p:cNvSpPr/>
          <p:nvPr/>
        </p:nvSpPr>
        <p:spPr>
          <a:xfrm>
            <a:off x="8503920" y="2971800"/>
            <a:ext cx="18745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4FF56"/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8668512" y="3172968"/>
            <a:ext cx="182880" cy="182880"/>
          </a:xfrm>
          <a:prstGeom prst="ellipse">
            <a:avLst/>
          </a:prstGeom>
          <a:solidFill>
            <a:srgbClr val="D4FF56"/>
          </a:solidFill>
          <a:ln w="12700">
            <a:solidFill>
              <a:srgbClr val="D4FF56">
                <a:alpha val="0"/>
              </a:srgbClr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8961120" y="322783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95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earn yield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8961120" y="3502152"/>
            <a:ext cx="11430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2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Jupiter Earn</a:t>
            </a:r>
            <a:endParaRPr lang="en-US" sz="720" dirty="0"/>
          </a:p>
        </p:txBody>
      </p:sp>
      <p:sp>
        <p:nvSpPr>
          <p:cNvPr id="20" name="Text 18"/>
          <p:cNvSpPr/>
          <p:nvPr/>
        </p:nvSpPr>
        <p:spPr>
          <a:xfrm>
            <a:off x="502920" y="64465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Agentis</a:t>
            </a:r>
            <a:endParaRPr lang="en-US" sz="800" dirty="0"/>
          </a:p>
        </p:txBody>
      </p:sp>
      <p:sp>
        <p:nvSpPr>
          <p:cNvPr id="21" name="Text 19"/>
          <p:cNvSpPr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6/8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DEMO ALREADY WORKS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621792" y="502920"/>
            <a:ext cx="5532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product works across dashboard, CLI, SDK, and MCP.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172200" y="1188720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D0BE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172200" y="1499616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dashboard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6976872" y="1938528"/>
            <a:ext cx="932688" cy="1216152"/>
          </a:xfrm>
          <a:prstGeom prst="line">
            <a:avLst/>
          </a:prstGeom>
          <a:noFill/>
          <a:ln w="15240">
            <a:solidFill>
              <a:srgbClr val="D9D0BE"/>
            </a:solidFill>
            <a:prstDash val="solid"/>
            <a:headEnd type="none"/>
            <a:tailEnd type="none"/>
          </a:ln>
        </p:spPr>
      </p:sp>
      <p:sp>
        <p:nvSpPr>
          <p:cNvPr id="7" name="Shape 5"/>
          <p:cNvSpPr/>
          <p:nvPr/>
        </p:nvSpPr>
        <p:spPr>
          <a:xfrm>
            <a:off x="8732520" y="1188720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D0B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732520" y="1499616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CLI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9537192" y="1938528"/>
            <a:ext cx="-1627632" cy="1216152"/>
          </a:xfrm>
          <a:prstGeom prst="line">
            <a:avLst/>
          </a:prstGeom>
          <a:noFill/>
          <a:ln w="15240">
            <a:solidFill>
              <a:srgbClr val="D9D0BE"/>
            </a:solidFill>
            <a:prstDash val="solid"/>
            <a:headEnd type="none"/>
            <a:tailEnd type="none"/>
          </a:ln>
        </p:spPr>
      </p:sp>
      <p:sp>
        <p:nvSpPr>
          <p:cNvPr id="10" name="Shape 8"/>
          <p:cNvSpPr/>
          <p:nvPr/>
        </p:nvSpPr>
        <p:spPr>
          <a:xfrm>
            <a:off x="6172200" y="3794760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D0B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72200" y="4105656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SDK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976872" y="4544568"/>
            <a:ext cx="932688" cy="-1389888"/>
          </a:xfrm>
          <a:prstGeom prst="line">
            <a:avLst/>
          </a:prstGeom>
          <a:noFill/>
          <a:ln w="15240">
            <a:solidFill>
              <a:srgbClr val="D9D0BE"/>
            </a:solidFill>
            <a:prstDash val="solid"/>
            <a:headEnd type="none"/>
            <a:tailEnd type="none"/>
          </a:ln>
        </p:spPr>
      </p:sp>
      <p:sp>
        <p:nvSpPr>
          <p:cNvPr id="13" name="Shape 11"/>
          <p:cNvSpPr/>
          <p:nvPr/>
        </p:nvSpPr>
        <p:spPr>
          <a:xfrm>
            <a:off x="8732520" y="3794760"/>
            <a:ext cx="1600200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D0BE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8732520" y="4105656"/>
            <a:ext cx="160020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0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MCP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9537192" y="4544568"/>
            <a:ext cx="-1627632" cy="-1389888"/>
          </a:xfrm>
          <a:prstGeom prst="line">
            <a:avLst/>
          </a:prstGeom>
          <a:noFill/>
          <a:ln w="15240">
            <a:solidFill>
              <a:srgbClr val="D9D0BE"/>
            </a:solidFill>
            <a:prstDash val="solid"/>
            <a:headEnd type="none"/>
            <a:tailEnd type="none"/>
          </a:ln>
        </p:spPr>
      </p:sp>
      <p:sp>
        <p:nvSpPr>
          <p:cNvPr id="16" name="Shape 14"/>
          <p:cNvSpPr/>
          <p:nvPr/>
        </p:nvSpPr>
        <p:spPr>
          <a:xfrm>
            <a:off x="7013448" y="2788920"/>
            <a:ext cx="1783080" cy="713232"/>
          </a:xfrm>
          <a:prstGeom prst="roundRect">
            <a:avLst>
              <a:gd name="adj" fmla="val 10256"/>
            </a:avLst>
          </a:prstGeom>
          <a:solidFill>
            <a:srgbClr val="F5F0E8"/>
          </a:solidFill>
          <a:ln w="12700">
            <a:solidFill>
              <a:srgbClr val="17130F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013448" y="3081528"/>
            <a:ext cx="17830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95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same wallets</a:t>
            </a:r>
            <a:endParaRPr lang="en-US" sz="950" dirty="0"/>
          </a:p>
        </p:txBody>
      </p:sp>
      <p:sp>
        <p:nvSpPr>
          <p:cNvPr id="18" name="Text 16"/>
          <p:cNvSpPr/>
          <p:nvPr/>
        </p:nvSpPr>
        <p:spPr>
          <a:xfrm>
            <a:off x="502920" y="64465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7/8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E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58368" y="310896"/>
            <a:ext cx="402336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780" b="1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 NEXT AGENT APPS NEED MONEY RAILS</a:t>
            </a:r>
            <a:endParaRPr lang="en-US" sz="780" dirty="0"/>
          </a:p>
        </p:txBody>
      </p:sp>
      <p:sp>
        <p:nvSpPr>
          <p:cNvPr id="3" name="Text 1"/>
          <p:cNvSpPr/>
          <p:nvPr/>
        </p:nvSpPr>
        <p:spPr>
          <a:xfrm>
            <a:off x="621792" y="502920"/>
            <a:ext cx="5532120" cy="169164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310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Agentis is the financial layer for autonomous Solana apps.</a:t>
            </a:r>
            <a:endParaRPr lang="en-US" sz="3100" dirty="0"/>
          </a:p>
        </p:txBody>
      </p:sp>
      <p:sp>
        <p:nvSpPr>
          <p:cNvPr id="4" name="Shape 2"/>
          <p:cNvSpPr/>
          <p:nvPr/>
        </p:nvSpPr>
        <p:spPr>
          <a:xfrm>
            <a:off x="6035040" y="4251960"/>
            <a:ext cx="4526280" cy="640080"/>
          </a:xfrm>
          <a:prstGeom prst="roundRect">
            <a:avLst>
              <a:gd name="adj" fmla="val 11429"/>
            </a:avLst>
          </a:prstGeom>
          <a:solidFill>
            <a:srgbClr val="17130F"/>
          </a:solidFill>
          <a:ln w="12700">
            <a:solidFill>
              <a:srgbClr val="17130F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6035040" y="4507992"/>
            <a:ext cx="4526280" cy="109728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Agentis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6172200" y="2331720"/>
            <a:ext cx="93268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D0BE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6638544" y="3081528"/>
            <a:ext cx="1655064" cy="1170432"/>
          </a:xfrm>
          <a:prstGeom prst="line">
            <a:avLst/>
          </a:prstGeom>
          <a:noFill/>
          <a:ln w="15240">
            <a:solidFill>
              <a:srgbClr val="D9D0BE"/>
            </a:solidFill>
            <a:prstDash val="solid"/>
            <a:headEnd type="none"/>
            <a:tailEnd type="none"/>
          </a:ln>
        </p:spPr>
      </p:sp>
      <p:sp>
        <p:nvSpPr>
          <p:cNvPr id="8" name="Text 6"/>
          <p:cNvSpPr/>
          <p:nvPr/>
        </p:nvSpPr>
        <p:spPr>
          <a:xfrm>
            <a:off x="6263640" y="25968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research agents</a:t>
            </a:r>
            <a:endParaRPr lang="en-US" sz="650" dirty="0"/>
          </a:p>
        </p:txBody>
      </p:sp>
      <p:sp>
        <p:nvSpPr>
          <p:cNvPr id="9" name="Shape 7"/>
          <p:cNvSpPr/>
          <p:nvPr/>
        </p:nvSpPr>
        <p:spPr>
          <a:xfrm>
            <a:off x="7269480" y="1920240"/>
            <a:ext cx="93268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D0BE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7735824" y="2670048"/>
            <a:ext cx="557784" cy="1581912"/>
          </a:xfrm>
          <a:prstGeom prst="line">
            <a:avLst/>
          </a:prstGeom>
          <a:noFill/>
          <a:ln w="15240">
            <a:solidFill>
              <a:srgbClr val="D9D0BE"/>
            </a:solidFill>
            <a:prstDash val="solid"/>
            <a:headEnd type="none"/>
            <a:tailEnd type="none"/>
          </a:ln>
        </p:spPr>
      </p:sp>
      <p:sp>
        <p:nvSpPr>
          <p:cNvPr id="11" name="Text 9"/>
          <p:cNvSpPr/>
          <p:nvPr/>
        </p:nvSpPr>
        <p:spPr>
          <a:xfrm>
            <a:off x="7360920" y="21854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paid APIs</a:t>
            </a:r>
            <a:endParaRPr lang="en-US" sz="650" dirty="0"/>
          </a:p>
        </p:txBody>
      </p:sp>
      <p:sp>
        <p:nvSpPr>
          <p:cNvPr id="12" name="Shape 10"/>
          <p:cNvSpPr/>
          <p:nvPr/>
        </p:nvSpPr>
        <p:spPr>
          <a:xfrm>
            <a:off x="8366760" y="2331720"/>
            <a:ext cx="93268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D0BE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8833104" y="3081528"/>
            <a:ext cx="-539496" cy="1170432"/>
          </a:xfrm>
          <a:prstGeom prst="line">
            <a:avLst/>
          </a:prstGeom>
          <a:noFill/>
          <a:ln w="15240">
            <a:solidFill>
              <a:srgbClr val="D9D0BE"/>
            </a:solidFill>
            <a:prstDash val="solid"/>
            <a:headEnd type="none"/>
            <a:tailEnd type="none"/>
          </a:ln>
        </p:spPr>
      </p:sp>
      <p:sp>
        <p:nvSpPr>
          <p:cNvPr id="14" name="Text 12"/>
          <p:cNvSpPr/>
          <p:nvPr/>
        </p:nvSpPr>
        <p:spPr>
          <a:xfrm>
            <a:off x="8458200" y="259689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DeFi agents</a:t>
            </a:r>
            <a:endParaRPr lang="en-US" sz="650" dirty="0"/>
          </a:p>
        </p:txBody>
      </p:sp>
      <p:sp>
        <p:nvSpPr>
          <p:cNvPr id="15" name="Shape 13"/>
          <p:cNvSpPr/>
          <p:nvPr/>
        </p:nvSpPr>
        <p:spPr>
          <a:xfrm>
            <a:off x="9464040" y="1920240"/>
            <a:ext cx="932688" cy="749808"/>
          </a:xfrm>
          <a:prstGeom prst="roundRect">
            <a:avLst>
              <a:gd name="adj" fmla="val 9756"/>
            </a:avLst>
          </a:prstGeom>
          <a:solidFill>
            <a:srgbClr val="FFFFFF"/>
          </a:solidFill>
          <a:ln w="12700">
            <a:solidFill>
              <a:srgbClr val="D9D0BE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9930384" y="2670048"/>
            <a:ext cx="-1636776" cy="1581912"/>
          </a:xfrm>
          <a:prstGeom prst="line">
            <a:avLst/>
          </a:prstGeom>
          <a:noFill/>
          <a:ln w="15240">
            <a:solidFill>
              <a:srgbClr val="D9D0BE"/>
            </a:solidFill>
            <a:prstDash val="solid"/>
            <a:headEnd type="none"/>
            <a:tailEnd type="none"/>
          </a:ln>
        </p:spPr>
      </p:sp>
      <p:sp>
        <p:nvSpPr>
          <p:cNvPr id="17" name="Text 15"/>
          <p:cNvSpPr/>
          <p:nvPr/>
        </p:nvSpPr>
        <p:spPr>
          <a:xfrm>
            <a:off x="9555480" y="2185416"/>
            <a:ext cx="749808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ctr" indent="0" marL="0">
              <a:buNone/>
            </a:pPr>
            <a:r>
              <a:rPr lang="en-US" sz="650" b="1" dirty="0">
                <a:solidFill>
                  <a:srgbClr val="17130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private agents</a:t>
            </a:r>
            <a:endParaRPr lang="en-US" sz="650" dirty="0"/>
          </a:p>
        </p:txBody>
      </p:sp>
      <p:sp>
        <p:nvSpPr>
          <p:cNvPr id="18" name="Text 16"/>
          <p:cNvSpPr/>
          <p:nvPr/>
        </p:nvSpPr>
        <p:spPr>
          <a:xfrm>
            <a:off x="502920" y="6446520"/>
            <a:ext cx="128016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800" b="1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Agentis</a:t>
            </a:r>
            <a:endParaRPr lang="en-US" sz="800" dirty="0"/>
          </a:p>
        </p:txBody>
      </p:sp>
      <p:sp>
        <p:nvSpPr>
          <p:cNvPr id="19" name="Text 17"/>
          <p:cNvSpPr/>
          <p:nvPr/>
        </p:nvSpPr>
        <p:spPr>
          <a:xfrm>
            <a:off x="11201400" y="6446520"/>
            <a:ext cx="502920" cy="16459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800" dirty="0">
                <a:solidFill>
                  <a:srgbClr val="6B6459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8/8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rial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8</Slides>
  <Notes>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</vt:vector>
  </TitlesOfParts>
  <Company>Agentis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Agentis Colosseum Pitch Deck</dc:title>
  <dc:subject>Colosseum pitch deck</dc:subject>
  <dc:creator>Agentis</dc:creator>
  <cp:lastModifiedBy>Agentis</cp:lastModifiedBy>
  <cp:revision>1</cp:revision>
  <dcterms:created xsi:type="dcterms:W3CDTF">2026-05-02T14:25:37Z</dcterms:created>
  <dcterms:modified xsi:type="dcterms:W3CDTF">2026-05-02T14:25:37Z</dcterms:modified>
</cp:coreProperties>
</file>